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D7D23C26-394D-4869-B123-6BA07FA37AC2}">
          <p14:sldIdLst>
            <p14:sldId id="256"/>
            <p14:sldId id="257"/>
            <p14:sldId id="258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6A84F9-A274-4F2E-80FD-264C508AD04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6493FD2C-6E69-4872-A932-71460E48D32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AR"/>
            <a:t>CONTEXTO</a:t>
          </a:r>
          <a:endParaRPr lang="en-US"/>
        </a:p>
      </dgm:t>
    </dgm:pt>
    <dgm:pt modelId="{517FB9FF-8382-4D38-B034-FBC61D87F310}" type="parTrans" cxnId="{E650FF5C-161E-4E07-8AEA-10B43D546432}">
      <dgm:prSet/>
      <dgm:spPr/>
      <dgm:t>
        <a:bodyPr/>
        <a:lstStyle/>
        <a:p>
          <a:endParaRPr lang="en-US"/>
        </a:p>
      </dgm:t>
    </dgm:pt>
    <dgm:pt modelId="{7C0C9D10-ADEB-4503-8C66-BA8FDE5AA2E3}" type="sibTrans" cxnId="{E650FF5C-161E-4E07-8AEA-10B43D546432}">
      <dgm:prSet/>
      <dgm:spPr/>
      <dgm:t>
        <a:bodyPr/>
        <a:lstStyle/>
        <a:p>
          <a:endParaRPr lang="en-US"/>
        </a:p>
      </dgm:t>
    </dgm:pt>
    <dgm:pt modelId="{FFE25228-FC0B-4768-976E-C05CEEB246C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AR"/>
            <a:t>HIPÓTESIS Y PREGUNTAS DE INTERÉS</a:t>
          </a:r>
          <a:endParaRPr lang="en-US"/>
        </a:p>
      </dgm:t>
    </dgm:pt>
    <dgm:pt modelId="{46861B87-2CDB-4C3F-A4B4-05B11A8DB02A}" type="parTrans" cxnId="{7FEAD2D8-D67A-489F-B38E-72732876168D}">
      <dgm:prSet/>
      <dgm:spPr/>
      <dgm:t>
        <a:bodyPr/>
        <a:lstStyle/>
        <a:p>
          <a:endParaRPr lang="en-US"/>
        </a:p>
      </dgm:t>
    </dgm:pt>
    <dgm:pt modelId="{545E910F-183D-49AB-99A5-68059A41FDD3}" type="sibTrans" cxnId="{7FEAD2D8-D67A-489F-B38E-72732876168D}">
      <dgm:prSet/>
      <dgm:spPr/>
      <dgm:t>
        <a:bodyPr/>
        <a:lstStyle/>
        <a:p>
          <a:endParaRPr lang="en-US"/>
        </a:p>
      </dgm:t>
    </dgm:pt>
    <dgm:pt modelId="{90562848-BD2D-4982-9BB8-8F8EDA1B32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AR"/>
            <a:t>ANÁLISIS EXPLORATORIO</a:t>
          </a:r>
          <a:endParaRPr lang="en-US"/>
        </a:p>
      </dgm:t>
    </dgm:pt>
    <dgm:pt modelId="{4813C21D-79CC-4E78-99DB-5108CCEA827E}" type="parTrans" cxnId="{5970CBF9-3D77-4188-8000-BEFDDCCF700B}">
      <dgm:prSet/>
      <dgm:spPr/>
      <dgm:t>
        <a:bodyPr/>
        <a:lstStyle/>
        <a:p>
          <a:endParaRPr lang="en-US"/>
        </a:p>
      </dgm:t>
    </dgm:pt>
    <dgm:pt modelId="{A0745F76-179F-4039-ADE6-588A4CB1B33A}" type="sibTrans" cxnId="{5970CBF9-3D77-4188-8000-BEFDDCCF700B}">
      <dgm:prSet/>
      <dgm:spPr/>
      <dgm:t>
        <a:bodyPr/>
        <a:lstStyle/>
        <a:p>
          <a:endParaRPr lang="en-US"/>
        </a:p>
      </dgm:t>
    </dgm:pt>
    <dgm:pt modelId="{5D937068-B032-4B09-9CF7-750C347D894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AR"/>
            <a:t>INSIGHTS Y RECOMENDACIONES</a:t>
          </a:r>
          <a:endParaRPr lang="en-US"/>
        </a:p>
      </dgm:t>
    </dgm:pt>
    <dgm:pt modelId="{CE7CC890-7901-46F7-8289-D0CD1528A2FF}" type="parTrans" cxnId="{839AE226-F9C3-42D0-86B6-DE6D963970A5}">
      <dgm:prSet/>
      <dgm:spPr/>
      <dgm:t>
        <a:bodyPr/>
        <a:lstStyle/>
        <a:p>
          <a:endParaRPr lang="en-US"/>
        </a:p>
      </dgm:t>
    </dgm:pt>
    <dgm:pt modelId="{C6BE6BF7-05C3-4016-BCBB-C4879A12025D}" type="sibTrans" cxnId="{839AE226-F9C3-42D0-86B6-DE6D963970A5}">
      <dgm:prSet/>
      <dgm:spPr/>
      <dgm:t>
        <a:bodyPr/>
        <a:lstStyle/>
        <a:p>
          <a:endParaRPr lang="en-US"/>
        </a:p>
      </dgm:t>
    </dgm:pt>
    <dgm:pt modelId="{4A794068-7E7E-46A7-8A65-C3D050F58FB7}" type="pres">
      <dgm:prSet presAssocID="{8D6A84F9-A274-4F2E-80FD-264C508AD04C}" presName="root" presStyleCnt="0">
        <dgm:presLayoutVars>
          <dgm:dir/>
          <dgm:resizeHandles val="exact"/>
        </dgm:presLayoutVars>
      </dgm:prSet>
      <dgm:spPr/>
    </dgm:pt>
    <dgm:pt modelId="{9B982CAD-C42F-4F85-B172-0E0357D14A0B}" type="pres">
      <dgm:prSet presAssocID="{6493FD2C-6E69-4872-A932-71460E48D32C}" presName="compNode" presStyleCnt="0"/>
      <dgm:spPr/>
    </dgm:pt>
    <dgm:pt modelId="{6A87CAE5-F5A5-455A-AE4B-9056F806CD56}" type="pres">
      <dgm:prSet presAssocID="{6493FD2C-6E69-4872-A932-71460E48D32C}" presName="iconBgRect" presStyleLbl="bgShp" presStyleIdx="0" presStyleCnt="4"/>
      <dgm:spPr/>
    </dgm:pt>
    <dgm:pt modelId="{C9EFDC92-A7E5-443B-9939-96516F0C0BAC}" type="pres">
      <dgm:prSet presAssocID="{6493FD2C-6E69-4872-A932-71460E48D32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15AAF9A3-49D5-4A8C-81E2-8EEDA44C4E49}" type="pres">
      <dgm:prSet presAssocID="{6493FD2C-6E69-4872-A932-71460E48D32C}" presName="spaceRect" presStyleCnt="0"/>
      <dgm:spPr/>
    </dgm:pt>
    <dgm:pt modelId="{BEC37576-98AD-469C-B698-00BCE8002F00}" type="pres">
      <dgm:prSet presAssocID="{6493FD2C-6E69-4872-A932-71460E48D32C}" presName="textRect" presStyleLbl="revTx" presStyleIdx="0" presStyleCnt="4">
        <dgm:presLayoutVars>
          <dgm:chMax val="1"/>
          <dgm:chPref val="1"/>
        </dgm:presLayoutVars>
      </dgm:prSet>
      <dgm:spPr/>
    </dgm:pt>
    <dgm:pt modelId="{6C30D3E7-DF52-4BB2-98A9-502C4C8259C0}" type="pres">
      <dgm:prSet presAssocID="{7C0C9D10-ADEB-4503-8C66-BA8FDE5AA2E3}" presName="sibTrans" presStyleCnt="0"/>
      <dgm:spPr/>
    </dgm:pt>
    <dgm:pt modelId="{DF3D9EDF-05D3-4F70-BDD3-ECC2DEFB2930}" type="pres">
      <dgm:prSet presAssocID="{FFE25228-FC0B-4768-976E-C05CEEB246C6}" presName="compNode" presStyleCnt="0"/>
      <dgm:spPr/>
    </dgm:pt>
    <dgm:pt modelId="{AA3F2AFC-3C2E-4C77-928D-0B438C9A52E2}" type="pres">
      <dgm:prSet presAssocID="{FFE25228-FC0B-4768-976E-C05CEEB246C6}" presName="iconBgRect" presStyleLbl="bgShp" presStyleIdx="1" presStyleCnt="4"/>
      <dgm:spPr/>
    </dgm:pt>
    <dgm:pt modelId="{89AB1131-D94F-4459-B6D2-EA3EB694EB3E}" type="pres">
      <dgm:prSet presAssocID="{FFE25228-FC0B-4768-976E-C05CEEB246C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DAFE6832-A3E9-438A-AA9A-6EE40EAB833F}" type="pres">
      <dgm:prSet presAssocID="{FFE25228-FC0B-4768-976E-C05CEEB246C6}" presName="spaceRect" presStyleCnt="0"/>
      <dgm:spPr/>
    </dgm:pt>
    <dgm:pt modelId="{7AC2BC72-B39E-4C11-93F9-63FD8456AD9E}" type="pres">
      <dgm:prSet presAssocID="{FFE25228-FC0B-4768-976E-C05CEEB246C6}" presName="textRect" presStyleLbl="revTx" presStyleIdx="1" presStyleCnt="4">
        <dgm:presLayoutVars>
          <dgm:chMax val="1"/>
          <dgm:chPref val="1"/>
        </dgm:presLayoutVars>
      </dgm:prSet>
      <dgm:spPr/>
    </dgm:pt>
    <dgm:pt modelId="{34271FD4-89BF-40BB-AF14-6C9DC3506C17}" type="pres">
      <dgm:prSet presAssocID="{545E910F-183D-49AB-99A5-68059A41FDD3}" presName="sibTrans" presStyleCnt="0"/>
      <dgm:spPr/>
    </dgm:pt>
    <dgm:pt modelId="{8A349289-B2BD-4E0E-9D7B-6DEA9B516060}" type="pres">
      <dgm:prSet presAssocID="{90562848-BD2D-4982-9BB8-8F8EDA1B3291}" presName="compNode" presStyleCnt="0"/>
      <dgm:spPr/>
    </dgm:pt>
    <dgm:pt modelId="{70890B16-7A93-4ABD-B517-957D953BA4C1}" type="pres">
      <dgm:prSet presAssocID="{90562848-BD2D-4982-9BB8-8F8EDA1B3291}" presName="iconBgRect" presStyleLbl="bgShp" presStyleIdx="2" presStyleCnt="4"/>
      <dgm:spPr/>
    </dgm:pt>
    <dgm:pt modelId="{B414EE03-B04F-49A8-B7BF-2B8DD0113C94}" type="pres">
      <dgm:prSet presAssocID="{90562848-BD2D-4982-9BB8-8F8EDA1B329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23894FF-2CC1-4C09-B11B-3DCA0E5F75C7}" type="pres">
      <dgm:prSet presAssocID="{90562848-BD2D-4982-9BB8-8F8EDA1B3291}" presName="spaceRect" presStyleCnt="0"/>
      <dgm:spPr/>
    </dgm:pt>
    <dgm:pt modelId="{F8A93F03-2F42-497D-9EE8-BDDEB4624CB5}" type="pres">
      <dgm:prSet presAssocID="{90562848-BD2D-4982-9BB8-8F8EDA1B3291}" presName="textRect" presStyleLbl="revTx" presStyleIdx="2" presStyleCnt="4">
        <dgm:presLayoutVars>
          <dgm:chMax val="1"/>
          <dgm:chPref val="1"/>
        </dgm:presLayoutVars>
      </dgm:prSet>
      <dgm:spPr/>
    </dgm:pt>
    <dgm:pt modelId="{6C6CF7E7-2980-4BA1-90DF-F3FAC7980758}" type="pres">
      <dgm:prSet presAssocID="{A0745F76-179F-4039-ADE6-588A4CB1B33A}" presName="sibTrans" presStyleCnt="0"/>
      <dgm:spPr/>
    </dgm:pt>
    <dgm:pt modelId="{CE5BD197-9175-4222-9F3F-72BB72BEB2EF}" type="pres">
      <dgm:prSet presAssocID="{5D937068-B032-4B09-9CF7-750C347D8946}" presName="compNode" presStyleCnt="0"/>
      <dgm:spPr/>
    </dgm:pt>
    <dgm:pt modelId="{B1DF70E6-931E-4E50-9F90-46033A81FCA9}" type="pres">
      <dgm:prSet presAssocID="{5D937068-B032-4B09-9CF7-750C347D8946}" presName="iconBgRect" presStyleLbl="bgShp" presStyleIdx="3" presStyleCnt="4"/>
      <dgm:spPr/>
    </dgm:pt>
    <dgm:pt modelId="{1EB8341A-1503-4A97-BAF6-659AAE98CC24}" type="pres">
      <dgm:prSet presAssocID="{5D937068-B032-4B09-9CF7-750C347D894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mbilla"/>
        </a:ext>
      </dgm:extLst>
    </dgm:pt>
    <dgm:pt modelId="{FC344342-076A-492B-A973-08656DAB48C6}" type="pres">
      <dgm:prSet presAssocID="{5D937068-B032-4B09-9CF7-750C347D8946}" presName="spaceRect" presStyleCnt="0"/>
      <dgm:spPr/>
    </dgm:pt>
    <dgm:pt modelId="{7339678A-1208-4870-B78C-9DD9F6469953}" type="pres">
      <dgm:prSet presAssocID="{5D937068-B032-4B09-9CF7-750C347D894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39AE226-F9C3-42D0-86B6-DE6D963970A5}" srcId="{8D6A84F9-A274-4F2E-80FD-264C508AD04C}" destId="{5D937068-B032-4B09-9CF7-750C347D8946}" srcOrd="3" destOrd="0" parTransId="{CE7CC890-7901-46F7-8289-D0CD1528A2FF}" sibTransId="{C6BE6BF7-05C3-4016-BCBB-C4879A12025D}"/>
    <dgm:cxn modelId="{E650FF5C-161E-4E07-8AEA-10B43D546432}" srcId="{8D6A84F9-A274-4F2E-80FD-264C508AD04C}" destId="{6493FD2C-6E69-4872-A932-71460E48D32C}" srcOrd="0" destOrd="0" parTransId="{517FB9FF-8382-4D38-B034-FBC61D87F310}" sibTransId="{7C0C9D10-ADEB-4503-8C66-BA8FDE5AA2E3}"/>
    <dgm:cxn modelId="{5324FF61-CF09-43CE-B91F-0E1C2878A5A3}" type="presOf" srcId="{5D937068-B032-4B09-9CF7-750C347D8946}" destId="{7339678A-1208-4870-B78C-9DD9F6469953}" srcOrd="0" destOrd="0" presId="urn:microsoft.com/office/officeart/2018/5/layout/IconCircleLabelList"/>
    <dgm:cxn modelId="{F3EAE474-93E8-4FF1-AB7D-0D18EEBC7341}" type="presOf" srcId="{8D6A84F9-A274-4F2E-80FD-264C508AD04C}" destId="{4A794068-7E7E-46A7-8A65-C3D050F58FB7}" srcOrd="0" destOrd="0" presId="urn:microsoft.com/office/officeart/2018/5/layout/IconCircleLabelList"/>
    <dgm:cxn modelId="{CE4AFE9F-E267-485A-B5E7-1144E1F133F0}" type="presOf" srcId="{FFE25228-FC0B-4768-976E-C05CEEB246C6}" destId="{7AC2BC72-B39E-4C11-93F9-63FD8456AD9E}" srcOrd="0" destOrd="0" presId="urn:microsoft.com/office/officeart/2018/5/layout/IconCircleLabelList"/>
    <dgm:cxn modelId="{67F72FD1-7AE5-4E07-84A4-B9B4039A77CE}" type="presOf" srcId="{90562848-BD2D-4982-9BB8-8F8EDA1B3291}" destId="{F8A93F03-2F42-497D-9EE8-BDDEB4624CB5}" srcOrd="0" destOrd="0" presId="urn:microsoft.com/office/officeart/2018/5/layout/IconCircleLabelList"/>
    <dgm:cxn modelId="{C1C3F7D7-03A0-49B0-ABA8-72D8099B829C}" type="presOf" srcId="{6493FD2C-6E69-4872-A932-71460E48D32C}" destId="{BEC37576-98AD-469C-B698-00BCE8002F00}" srcOrd="0" destOrd="0" presId="urn:microsoft.com/office/officeart/2018/5/layout/IconCircleLabelList"/>
    <dgm:cxn modelId="{7FEAD2D8-D67A-489F-B38E-72732876168D}" srcId="{8D6A84F9-A274-4F2E-80FD-264C508AD04C}" destId="{FFE25228-FC0B-4768-976E-C05CEEB246C6}" srcOrd="1" destOrd="0" parTransId="{46861B87-2CDB-4C3F-A4B4-05B11A8DB02A}" sibTransId="{545E910F-183D-49AB-99A5-68059A41FDD3}"/>
    <dgm:cxn modelId="{5970CBF9-3D77-4188-8000-BEFDDCCF700B}" srcId="{8D6A84F9-A274-4F2E-80FD-264C508AD04C}" destId="{90562848-BD2D-4982-9BB8-8F8EDA1B3291}" srcOrd="2" destOrd="0" parTransId="{4813C21D-79CC-4E78-99DB-5108CCEA827E}" sibTransId="{A0745F76-179F-4039-ADE6-588A4CB1B33A}"/>
    <dgm:cxn modelId="{886572CB-B660-43B9-80F4-9AC7AE3B43E0}" type="presParOf" srcId="{4A794068-7E7E-46A7-8A65-C3D050F58FB7}" destId="{9B982CAD-C42F-4F85-B172-0E0357D14A0B}" srcOrd="0" destOrd="0" presId="urn:microsoft.com/office/officeart/2018/5/layout/IconCircleLabelList"/>
    <dgm:cxn modelId="{5667111E-3565-4E13-9404-8CB2DD98402B}" type="presParOf" srcId="{9B982CAD-C42F-4F85-B172-0E0357D14A0B}" destId="{6A87CAE5-F5A5-455A-AE4B-9056F806CD56}" srcOrd="0" destOrd="0" presId="urn:microsoft.com/office/officeart/2018/5/layout/IconCircleLabelList"/>
    <dgm:cxn modelId="{E47F481C-1A80-4C11-9769-11AF232E2CCE}" type="presParOf" srcId="{9B982CAD-C42F-4F85-B172-0E0357D14A0B}" destId="{C9EFDC92-A7E5-443B-9939-96516F0C0BAC}" srcOrd="1" destOrd="0" presId="urn:microsoft.com/office/officeart/2018/5/layout/IconCircleLabelList"/>
    <dgm:cxn modelId="{06D7D7CD-765A-4732-8D56-F0E69FD09098}" type="presParOf" srcId="{9B982CAD-C42F-4F85-B172-0E0357D14A0B}" destId="{15AAF9A3-49D5-4A8C-81E2-8EEDA44C4E49}" srcOrd="2" destOrd="0" presId="urn:microsoft.com/office/officeart/2018/5/layout/IconCircleLabelList"/>
    <dgm:cxn modelId="{8B4AEA54-A6BA-47FC-969A-70658B6837F3}" type="presParOf" srcId="{9B982CAD-C42F-4F85-B172-0E0357D14A0B}" destId="{BEC37576-98AD-469C-B698-00BCE8002F00}" srcOrd="3" destOrd="0" presId="urn:microsoft.com/office/officeart/2018/5/layout/IconCircleLabelList"/>
    <dgm:cxn modelId="{AF88C0EF-DF2C-45C8-95CF-A7AD1709D4B6}" type="presParOf" srcId="{4A794068-7E7E-46A7-8A65-C3D050F58FB7}" destId="{6C30D3E7-DF52-4BB2-98A9-502C4C8259C0}" srcOrd="1" destOrd="0" presId="urn:microsoft.com/office/officeart/2018/5/layout/IconCircleLabelList"/>
    <dgm:cxn modelId="{36377940-718A-4C5C-BF52-F543408FE337}" type="presParOf" srcId="{4A794068-7E7E-46A7-8A65-C3D050F58FB7}" destId="{DF3D9EDF-05D3-4F70-BDD3-ECC2DEFB2930}" srcOrd="2" destOrd="0" presId="urn:microsoft.com/office/officeart/2018/5/layout/IconCircleLabelList"/>
    <dgm:cxn modelId="{4E788F3E-3D56-4AEE-A983-4A741F952D15}" type="presParOf" srcId="{DF3D9EDF-05D3-4F70-BDD3-ECC2DEFB2930}" destId="{AA3F2AFC-3C2E-4C77-928D-0B438C9A52E2}" srcOrd="0" destOrd="0" presId="urn:microsoft.com/office/officeart/2018/5/layout/IconCircleLabelList"/>
    <dgm:cxn modelId="{B944B45C-5842-4040-A86A-D6423E919DE0}" type="presParOf" srcId="{DF3D9EDF-05D3-4F70-BDD3-ECC2DEFB2930}" destId="{89AB1131-D94F-4459-B6D2-EA3EB694EB3E}" srcOrd="1" destOrd="0" presId="urn:microsoft.com/office/officeart/2018/5/layout/IconCircleLabelList"/>
    <dgm:cxn modelId="{D5BF6690-6ED3-4EC4-8E8D-376120BB296E}" type="presParOf" srcId="{DF3D9EDF-05D3-4F70-BDD3-ECC2DEFB2930}" destId="{DAFE6832-A3E9-438A-AA9A-6EE40EAB833F}" srcOrd="2" destOrd="0" presId="urn:microsoft.com/office/officeart/2018/5/layout/IconCircleLabelList"/>
    <dgm:cxn modelId="{F7274F9F-9184-4F9E-915A-6F66ACDC65E9}" type="presParOf" srcId="{DF3D9EDF-05D3-4F70-BDD3-ECC2DEFB2930}" destId="{7AC2BC72-B39E-4C11-93F9-63FD8456AD9E}" srcOrd="3" destOrd="0" presId="urn:microsoft.com/office/officeart/2018/5/layout/IconCircleLabelList"/>
    <dgm:cxn modelId="{FF2329AD-C798-4CC4-A81B-965FF70DB066}" type="presParOf" srcId="{4A794068-7E7E-46A7-8A65-C3D050F58FB7}" destId="{34271FD4-89BF-40BB-AF14-6C9DC3506C17}" srcOrd="3" destOrd="0" presId="urn:microsoft.com/office/officeart/2018/5/layout/IconCircleLabelList"/>
    <dgm:cxn modelId="{3F12768C-AE42-4BDF-A14F-62C7499FD8CC}" type="presParOf" srcId="{4A794068-7E7E-46A7-8A65-C3D050F58FB7}" destId="{8A349289-B2BD-4E0E-9D7B-6DEA9B516060}" srcOrd="4" destOrd="0" presId="urn:microsoft.com/office/officeart/2018/5/layout/IconCircleLabelList"/>
    <dgm:cxn modelId="{112C8613-65E3-4154-BF64-1DC8E7805A0C}" type="presParOf" srcId="{8A349289-B2BD-4E0E-9D7B-6DEA9B516060}" destId="{70890B16-7A93-4ABD-B517-957D953BA4C1}" srcOrd="0" destOrd="0" presId="urn:microsoft.com/office/officeart/2018/5/layout/IconCircleLabelList"/>
    <dgm:cxn modelId="{E4EF7701-4260-4698-A5C5-B1629B844341}" type="presParOf" srcId="{8A349289-B2BD-4E0E-9D7B-6DEA9B516060}" destId="{B414EE03-B04F-49A8-B7BF-2B8DD0113C94}" srcOrd="1" destOrd="0" presId="urn:microsoft.com/office/officeart/2018/5/layout/IconCircleLabelList"/>
    <dgm:cxn modelId="{8910E024-5B9B-4902-9415-0B1F9D882855}" type="presParOf" srcId="{8A349289-B2BD-4E0E-9D7B-6DEA9B516060}" destId="{623894FF-2CC1-4C09-B11B-3DCA0E5F75C7}" srcOrd="2" destOrd="0" presId="urn:microsoft.com/office/officeart/2018/5/layout/IconCircleLabelList"/>
    <dgm:cxn modelId="{DC6B6773-A941-4CCA-BBF1-F4A997FE7640}" type="presParOf" srcId="{8A349289-B2BD-4E0E-9D7B-6DEA9B516060}" destId="{F8A93F03-2F42-497D-9EE8-BDDEB4624CB5}" srcOrd="3" destOrd="0" presId="urn:microsoft.com/office/officeart/2018/5/layout/IconCircleLabelList"/>
    <dgm:cxn modelId="{F3D09FED-5BEA-492C-9DA4-A36A0F4F41F1}" type="presParOf" srcId="{4A794068-7E7E-46A7-8A65-C3D050F58FB7}" destId="{6C6CF7E7-2980-4BA1-90DF-F3FAC7980758}" srcOrd="5" destOrd="0" presId="urn:microsoft.com/office/officeart/2018/5/layout/IconCircleLabelList"/>
    <dgm:cxn modelId="{181985C8-2CD9-47E1-8D5A-EB5E23DBBBAD}" type="presParOf" srcId="{4A794068-7E7E-46A7-8A65-C3D050F58FB7}" destId="{CE5BD197-9175-4222-9F3F-72BB72BEB2EF}" srcOrd="6" destOrd="0" presId="urn:microsoft.com/office/officeart/2018/5/layout/IconCircleLabelList"/>
    <dgm:cxn modelId="{D96E4E23-39D0-4445-8DFA-2B64C553A621}" type="presParOf" srcId="{CE5BD197-9175-4222-9F3F-72BB72BEB2EF}" destId="{B1DF70E6-931E-4E50-9F90-46033A81FCA9}" srcOrd="0" destOrd="0" presId="urn:microsoft.com/office/officeart/2018/5/layout/IconCircleLabelList"/>
    <dgm:cxn modelId="{C9BF9F2E-2C6C-4673-A57F-28263395AA76}" type="presParOf" srcId="{CE5BD197-9175-4222-9F3F-72BB72BEB2EF}" destId="{1EB8341A-1503-4A97-BAF6-659AAE98CC24}" srcOrd="1" destOrd="0" presId="urn:microsoft.com/office/officeart/2018/5/layout/IconCircleLabelList"/>
    <dgm:cxn modelId="{D3AC6E63-7690-4C21-A0B2-2D5B6D678706}" type="presParOf" srcId="{CE5BD197-9175-4222-9F3F-72BB72BEB2EF}" destId="{FC344342-076A-492B-A973-08656DAB48C6}" srcOrd="2" destOrd="0" presId="urn:microsoft.com/office/officeart/2018/5/layout/IconCircleLabelList"/>
    <dgm:cxn modelId="{2E031944-7DC1-4710-B982-8580EAA04A80}" type="presParOf" srcId="{CE5BD197-9175-4222-9F3F-72BB72BEB2EF}" destId="{7339678A-1208-4870-B78C-9DD9F646995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7CAE5-F5A5-455A-AE4B-9056F806CD56}">
      <dsp:nvSpPr>
        <dsp:cNvPr id="0" name=""/>
        <dsp:cNvSpPr/>
      </dsp:nvSpPr>
      <dsp:spPr>
        <a:xfrm>
          <a:off x="826659" y="612311"/>
          <a:ext cx="1257725" cy="12577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EFDC92-A7E5-443B-9939-96516F0C0BAC}">
      <dsp:nvSpPr>
        <dsp:cNvPr id="0" name=""/>
        <dsp:cNvSpPr/>
      </dsp:nvSpPr>
      <dsp:spPr>
        <a:xfrm>
          <a:off x="1094699" y="880351"/>
          <a:ext cx="721645" cy="7216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37576-98AD-469C-B698-00BCE8002F00}">
      <dsp:nvSpPr>
        <dsp:cNvPr id="0" name=""/>
        <dsp:cNvSpPr/>
      </dsp:nvSpPr>
      <dsp:spPr>
        <a:xfrm>
          <a:off x="424599" y="2261788"/>
          <a:ext cx="20618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AR" sz="1600" kern="1200"/>
            <a:t>CONTEXTO</a:t>
          </a:r>
          <a:endParaRPr lang="en-US" sz="1600" kern="1200"/>
        </a:p>
      </dsp:txBody>
      <dsp:txXfrm>
        <a:off x="424599" y="2261788"/>
        <a:ext cx="2061845" cy="720000"/>
      </dsp:txXfrm>
    </dsp:sp>
    <dsp:sp modelId="{AA3F2AFC-3C2E-4C77-928D-0B438C9A52E2}">
      <dsp:nvSpPr>
        <dsp:cNvPr id="0" name=""/>
        <dsp:cNvSpPr/>
      </dsp:nvSpPr>
      <dsp:spPr>
        <a:xfrm>
          <a:off x="3249328" y="612311"/>
          <a:ext cx="1257725" cy="12577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AB1131-D94F-4459-B6D2-EA3EB694EB3E}">
      <dsp:nvSpPr>
        <dsp:cNvPr id="0" name=""/>
        <dsp:cNvSpPr/>
      </dsp:nvSpPr>
      <dsp:spPr>
        <a:xfrm>
          <a:off x="3517367" y="880351"/>
          <a:ext cx="721645" cy="7216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2BC72-B39E-4C11-93F9-63FD8456AD9E}">
      <dsp:nvSpPr>
        <dsp:cNvPr id="0" name=""/>
        <dsp:cNvSpPr/>
      </dsp:nvSpPr>
      <dsp:spPr>
        <a:xfrm>
          <a:off x="2847268" y="2261788"/>
          <a:ext cx="20618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AR" sz="1600" kern="1200"/>
            <a:t>HIPÓTESIS Y PREGUNTAS DE INTERÉS</a:t>
          </a:r>
          <a:endParaRPr lang="en-US" sz="1600" kern="1200"/>
        </a:p>
      </dsp:txBody>
      <dsp:txXfrm>
        <a:off x="2847268" y="2261788"/>
        <a:ext cx="2061845" cy="720000"/>
      </dsp:txXfrm>
    </dsp:sp>
    <dsp:sp modelId="{70890B16-7A93-4ABD-B517-957D953BA4C1}">
      <dsp:nvSpPr>
        <dsp:cNvPr id="0" name=""/>
        <dsp:cNvSpPr/>
      </dsp:nvSpPr>
      <dsp:spPr>
        <a:xfrm>
          <a:off x="5671996" y="612311"/>
          <a:ext cx="1257725" cy="12577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14EE03-B04F-49A8-B7BF-2B8DD0113C94}">
      <dsp:nvSpPr>
        <dsp:cNvPr id="0" name=""/>
        <dsp:cNvSpPr/>
      </dsp:nvSpPr>
      <dsp:spPr>
        <a:xfrm>
          <a:off x="5940036" y="880351"/>
          <a:ext cx="721645" cy="7216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93F03-2F42-497D-9EE8-BDDEB4624CB5}">
      <dsp:nvSpPr>
        <dsp:cNvPr id="0" name=""/>
        <dsp:cNvSpPr/>
      </dsp:nvSpPr>
      <dsp:spPr>
        <a:xfrm>
          <a:off x="5269936" y="2261788"/>
          <a:ext cx="20618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AR" sz="1600" kern="1200"/>
            <a:t>ANÁLISIS EXPLORATORIO</a:t>
          </a:r>
          <a:endParaRPr lang="en-US" sz="1600" kern="1200"/>
        </a:p>
      </dsp:txBody>
      <dsp:txXfrm>
        <a:off x="5269936" y="2261788"/>
        <a:ext cx="2061845" cy="720000"/>
      </dsp:txXfrm>
    </dsp:sp>
    <dsp:sp modelId="{B1DF70E6-931E-4E50-9F90-46033A81FCA9}">
      <dsp:nvSpPr>
        <dsp:cNvPr id="0" name=""/>
        <dsp:cNvSpPr/>
      </dsp:nvSpPr>
      <dsp:spPr>
        <a:xfrm>
          <a:off x="8094664" y="612311"/>
          <a:ext cx="1257725" cy="12577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B8341A-1503-4A97-BAF6-659AAE98CC24}">
      <dsp:nvSpPr>
        <dsp:cNvPr id="0" name=""/>
        <dsp:cNvSpPr/>
      </dsp:nvSpPr>
      <dsp:spPr>
        <a:xfrm>
          <a:off x="8362704" y="880351"/>
          <a:ext cx="721645" cy="7216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9678A-1208-4870-B78C-9DD9F6469953}">
      <dsp:nvSpPr>
        <dsp:cNvPr id="0" name=""/>
        <dsp:cNvSpPr/>
      </dsp:nvSpPr>
      <dsp:spPr>
        <a:xfrm>
          <a:off x="7692604" y="2261788"/>
          <a:ext cx="20618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AR" sz="1600" kern="1200"/>
            <a:t>INSIGHTS Y RECOMENDACIONES</a:t>
          </a:r>
          <a:endParaRPr lang="en-US" sz="1600" kern="1200"/>
        </a:p>
      </dsp:txBody>
      <dsp:txXfrm>
        <a:off x="7692604" y="2261788"/>
        <a:ext cx="206184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0870F96-91C8-4E5D-AF9F-EB9D4FFD6B05}" type="datetimeFigureOut">
              <a:rPr lang="es-AR" smtClean="0"/>
              <a:t>14/6/2025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69B39D7-3D76-4559-A3F5-CAF99F628318}" type="slidenum">
              <a:rPr lang="es-AR" smtClean="0"/>
              <a:t>‹Nº›</a:t>
            </a:fld>
            <a:endParaRPr lang="es-A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71370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0F96-91C8-4E5D-AF9F-EB9D4FFD6B05}" type="datetimeFigureOut">
              <a:rPr lang="es-AR" smtClean="0"/>
              <a:t>14/6/2025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B39D7-3D76-4559-A3F5-CAF99F62831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665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0870F96-91C8-4E5D-AF9F-EB9D4FFD6B05}" type="datetimeFigureOut">
              <a:rPr lang="es-AR" smtClean="0"/>
              <a:t>14/6/2025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69B39D7-3D76-4559-A3F5-CAF99F628318}" type="slidenum">
              <a:rPr lang="es-AR" smtClean="0"/>
              <a:t>‹Nº›</a:t>
            </a:fld>
            <a:endParaRPr lang="es-A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265214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0F96-91C8-4E5D-AF9F-EB9D4FFD6B05}" type="datetimeFigureOut">
              <a:rPr lang="es-AR" smtClean="0"/>
              <a:t>14/6/2025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B39D7-3D76-4559-A3F5-CAF99F62831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29648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0F96-91C8-4E5D-AF9F-EB9D4FFD6B05}" type="datetimeFigureOut">
              <a:rPr lang="es-AR" smtClean="0"/>
              <a:t>14/6/2025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B39D7-3D76-4559-A3F5-CAF99F62831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848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0F96-91C8-4E5D-AF9F-EB9D4FFD6B05}" type="datetimeFigureOut">
              <a:rPr lang="es-AR" smtClean="0"/>
              <a:t>14/6/2025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B39D7-3D76-4559-A3F5-CAF99F62831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93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0F96-91C8-4E5D-AF9F-EB9D4FFD6B05}" type="datetimeFigureOut">
              <a:rPr lang="es-AR" smtClean="0"/>
              <a:t>14/6/2025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B39D7-3D76-4559-A3F5-CAF99F62831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9666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E0870F96-91C8-4E5D-AF9F-EB9D4FFD6B05}" type="datetimeFigureOut">
              <a:rPr lang="es-AR" smtClean="0"/>
              <a:t>14/6/2025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969B39D7-3D76-4559-A3F5-CAF99F628318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93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E0870F96-91C8-4E5D-AF9F-EB9D4FFD6B05}" type="datetimeFigureOut">
              <a:rPr lang="es-AR" smtClean="0"/>
              <a:t>14/6/2025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969B39D7-3D76-4559-A3F5-CAF99F62831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0333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0F96-91C8-4E5D-AF9F-EB9D4FFD6B05}" type="datetimeFigureOut">
              <a:rPr lang="es-AR" smtClean="0"/>
              <a:t>14/6/2025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B39D7-3D76-4559-A3F5-CAF99F62831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834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0F96-91C8-4E5D-AF9F-EB9D4FFD6B05}" type="datetimeFigureOut">
              <a:rPr lang="es-AR" smtClean="0"/>
              <a:t>14/6/2025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B39D7-3D76-4559-A3F5-CAF99F62831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965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0870F96-91C8-4E5D-AF9F-EB9D4FFD6B05}" type="datetimeFigureOut">
              <a:rPr lang="es-AR" smtClean="0"/>
              <a:t>14/6/2025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69B39D7-3D76-4559-A3F5-CAF99F628318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43301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D8C2E-86E6-5297-EA90-C8BD0B7A7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523" y="1098387"/>
            <a:ext cx="10318418" cy="2750131"/>
          </a:xfrm>
        </p:spPr>
        <p:txBody>
          <a:bodyPr/>
          <a:lstStyle/>
          <a:p>
            <a:r>
              <a:rPr lang="es-AR" sz="6000" dirty="0">
                <a:latin typeface="Aharoni" panose="02010803020104030203" pitchFamily="2" charset="-79"/>
                <a:cs typeface="Aharoni" panose="02010803020104030203" pitchFamily="2" charset="-79"/>
              </a:rPr>
              <a:t>DERRAMES DE PETRÓLEO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649194-5926-1839-0B31-956878996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303" y="3983566"/>
            <a:ext cx="8045373" cy="1776046"/>
          </a:xfrm>
        </p:spPr>
        <p:txBody>
          <a:bodyPr>
            <a:normAutofit/>
          </a:bodyPr>
          <a:lstStyle/>
          <a:p>
            <a:r>
              <a:rPr lang="es-AR" dirty="0">
                <a:latin typeface="Amasis MT Pro Light" panose="020F0502020204030204" pitchFamily="18" charset="0"/>
              </a:rPr>
              <a:t>AUTOR: </a:t>
            </a:r>
            <a:r>
              <a:rPr lang="es-AR" dirty="0" err="1">
                <a:latin typeface="Amasis MT Pro Light" panose="020F0502020204030204" pitchFamily="18" charset="0"/>
              </a:rPr>
              <a:t>Ayelen</a:t>
            </a:r>
            <a:r>
              <a:rPr lang="es-AR" dirty="0">
                <a:latin typeface="Amasis MT Pro Light" panose="020F0502020204030204" pitchFamily="18" charset="0"/>
              </a:rPr>
              <a:t> Estefania Ochoa</a:t>
            </a:r>
          </a:p>
          <a:p>
            <a:r>
              <a:rPr lang="es-AR" dirty="0">
                <a:latin typeface="Amasis MT Pro Light" panose="020F0502020204030204" pitchFamily="18" charset="0"/>
              </a:rPr>
              <a:t>Curso: Data </a:t>
            </a:r>
            <a:r>
              <a:rPr lang="es-AR" dirty="0" err="1">
                <a:latin typeface="Amasis MT Pro Light" panose="020F0502020204030204" pitchFamily="18" charset="0"/>
              </a:rPr>
              <a:t>Science</a:t>
            </a:r>
            <a:r>
              <a:rPr lang="es-AR" dirty="0">
                <a:latin typeface="Amasis MT Pro Light" panose="020F0502020204030204" pitchFamily="18" charset="0"/>
              </a:rPr>
              <a:t> II</a:t>
            </a:r>
          </a:p>
          <a:p>
            <a:r>
              <a:rPr lang="es-AR" dirty="0">
                <a:latin typeface="Amasis MT Pro Light" panose="020F0502020204030204" pitchFamily="18" charset="0"/>
              </a:rPr>
              <a:t>Comisión 67410</a:t>
            </a:r>
          </a:p>
          <a:p>
            <a:r>
              <a:rPr lang="es-AR" dirty="0" err="1">
                <a:latin typeface="Amasis MT Pro Light" panose="020F0502020204030204" pitchFamily="18" charset="0"/>
              </a:rPr>
              <a:t>Coderhouse</a:t>
            </a:r>
            <a:endParaRPr lang="es-AR" dirty="0">
              <a:latin typeface="Amasis MT Pro Light" panose="020F0502020204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1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6">
            <a:extLst>
              <a:ext uri="{FF2B5EF4-FFF2-40B4-BE49-F238E27FC236}">
                <a16:creationId xmlns:a16="http://schemas.microsoft.com/office/drawing/2014/main" id="{D09F5552-39CF-49BE-9BA3-F2C2E97DD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6CCDD5D4-DC0E-4B2C-8B6B-FCAA00ECE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0A7D14-7B67-4022-A8BE-1CCD4A0F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AF2AFCA-22C1-E853-86CA-A0C4C7F6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spc="200">
                <a:solidFill>
                  <a:schemeClr val="tx2"/>
                </a:solidFill>
                <a:latin typeface="+mj-lt"/>
              </a:rPr>
              <a:t>AGENDA</a:t>
            </a: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AB09A9E8-BF27-4613-A775-071F0820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AFE299-6F79-44AF-9A77-2DC2DC1F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graphicFrame>
        <p:nvGraphicFramePr>
          <p:cNvPr id="21" name="Marcador de texto 5">
            <a:extLst>
              <a:ext uri="{FF2B5EF4-FFF2-40B4-BE49-F238E27FC236}">
                <a16:creationId xmlns:a16="http://schemas.microsoft.com/office/drawing/2014/main" id="{5B35C70A-ABB1-D1B6-3E29-FCCD940DCE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3004609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108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B39B06-F2C6-8DF0-5E62-56BAB13ED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AR" sz="1400" b="1" u="sng" dirty="0">
                <a:solidFill>
                  <a:srgbClr val="FFC000"/>
                </a:solidFill>
              </a:rPr>
              <a:t>CONTEXTO</a:t>
            </a:r>
          </a:p>
          <a:p>
            <a:pPr algn="just"/>
            <a:r>
              <a:rPr lang="es-AR" sz="1400" dirty="0"/>
              <a:t>Los derrames de petróleo son desastres que pueden tener graves impactos sociales, económicos y ambientales.</a:t>
            </a:r>
          </a:p>
          <a:p>
            <a:pPr algn="just"/>
            <a:r>
              <a:rPr lang="es-AR" sz="1400" dirty="0"/>
              <a:t>Son la liberación de crudo o productos derivados del petróleo refinado de petroleros, plataformas, pozos y plataformas offshore.</a:t>
            </a:r>
          </a:p>
          <a:p>
            <a:pPr algn="just"/>
            <a:r>
              <a:rPr lang="es-AR" sz="1400" dirty="0"/>
              <a:t>Estos derrames son más comunes en los entornos marinos, pero también pueden ocurrir en tierra. Pueden tener consecuencias desastrosas para los ecosistemas locales, y ser costosos debido a la pérdida de petróleo y los costos que implica su limpieza.</a:t>
            </a:r>
          </a:p>
          <a:p>
            <a:pPr marL="0" indent="0">
              <a:buNone/>
            </a:pPr>
            <a:r>
              <a:rPr lang="es-AR" sz="1400" b="1" u="sng" dirty="0">
                <a:solidFill>
                  <a:srgbClr val="FFC000"/>
                </a:solidFill>
              </a:rPr>
              <a:t>AUDIENCIA</a:t>
            </a:r>
          </a:p>
          <a:p>
            <a:r>
              <a:rPr lang="es-AR" sz="1400" dirty="0"/>
              <a:t>Se enfoca principalmente en aquella audiencia que busca concientizar sobre el número de derrames, causas durante un periodo de tiempo de 52 años (1970-2022).</a:t>
            </a:r>
          </a:p>
          <a:p>
            <a:pPr marL="0" indent="0">
              <a:buNone/>
            </a:pPr>
            <a:r>
              <a:rPr lang="es-AR" sz="1400" b="1" u="sng" dirty="0">
                <a:solidFill>
                  <a:srgbClr val="FFC000"/>
                </a:solidFill>
              </a:rPr>
              <a:t>LIMITACIONES</a:t>
            </a:r>
          </a:p>
          <a:p>
            <a:pPr algn="just"/>
            <a:r>
              <a:rPr lang="es-AR" sz="1400" dirty="0"/>
              <a:t>El </a:t>
            </a:r>
            <a:r>
              <a:rPr lang="es-AR" sz="1400" dirty="0" err="1"/>
              <a:t>dataSet</a:t>
            </a:r>
            <a:r>
              <a:rPr lang="es-AR" sz="1400" dirty="0"/>
              <a:t> se centra en los derrames de petróleo de los buques portacontenedores que transportan petróleo, donde se dispone de datos globales coherentes y de alta calidad. Pero también pueden provenir de otros sitios, como plataformas petrolíferas en alta mar y oleoductos dañados.</a:t>
            </a:r>
          </a:p>
          <a:p>
            <a:pPr marL="0" indent="0">
              <a:buNone/>
            </a:pPr>
            <a:endParaRPr lang="es-AR" sz="1400" dirty="0"/>
          </a:p>
        </p:txBody>
      </p:sp>
      <p:pic>
        <p:nvPicPr>
          <p:cNvPr id="8" name="Imagen 7" descr="Un hombre parado en un cuerpo de agua&#10;&#10;El contenido generado por IA puede ser incorrecto.">
            <a:extLst>
              <a:ext uri="{FF2B5EF4-FFF2-40B4-BE49-F238E27FC236}">
                <a16:creationId xmlns:a16="http://schemas.microsoft.com/office/drawing/2014/main" id="{FB02109B-70A8-F9DF-9E66-9580294AE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452" y="1358288"/>
            <a:ext cx="2746696" cy="37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26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9EB252E-B9DC-E0B9-F617-78C92C03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689331"/>
          </a:xfrm>
        </p:spPr>
        <p:txBody>
          <a:bodyPr>
            <a:normAutofit/>
          </a:bodyPr>
          <a:lstStyle/>
          <a:p>
            <a:pPr algn="ctr"/>
            <a:r>
              <a:rPr lang="es-AR" sz="4000" dirty="0"/>
              <a:t>PREGUNTAS DE INTERÉS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C6B57B-EA77-78D4-E513-576259226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1071716"/>
            <a:ext cx="4800600" cy="4833784"/>
          </a:xfrm>
        </p:spPr>
        <p:txBody>
          <a:bodyPr/>
          <a:lstStyle/>
          <a:p>
            <a:pPr marL="0" indent="0" algn="ctr">
              <a:buNone/>
            </a:pPr>
            <a:r>
              <a:rPr lang="es-AR" b="1" u="sng" dirty="0">
                <a:solidFill>
                  <a:srgbClr val="FFC000"/>
                </a:solidFill>
              </a:rPr>
              <a:t>PREGUNTAS PRIMARIAS</a:t>
            </a:r>
          </a:p>
          <a:p>
            <a:r>
              <a:rPr lang="es-AR" dirty="0"/>
              <a:t>¿Cuáles es el número de derrames de petróleo y sus derivados en estos 50 años? ¿Ha disminuido?</a:t>
            </a:r>
          </a:p>
          <a:p>
            <a:r>
              <a:rPr lang="es-AR" dirty="0"/>
              <a:t>¿Cuáles son las principales causas que desencadenan esta problemática?</a:t>
            </a:r>
          </a:p>
          <a:p>
            <a:r>
              <a:rPr lang="es-AR" dirty="0"/>
              <a:t>¿Cuáles son las cantidades de petróleo derramado en estos 50 años?</a:t>
            </a:r>
          </a:p>
          <a:p>
            <a:endParaRPr lang="es-AR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2E54801-F3E9-A266-2165-B957B792C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7796" y="1071716"/>
            <a:ext cx="4800600" cy="4833784"/>
          </a:xfrm>
        </p:spPr>
        <p:txBody>
          <a:bodyPr/>
          <a:lstStyle/>
          <a:p>
            <a:pPr marL="0" indent="0" algn="ctr">
              <a:buNone/>
            </a:pPr>
            <a:r>
              <a:rPr lang="es-AR" b="1" u="sng" dirty="0">
                <a:solidFill>
                  <a:srgbClr val="FFC000"/>
                </a:solidFill>
              </a:rPr>
              <a:t>PREGUNTAS SECUNDARIAS</a:t>
            </a:r>
          </a:p>
          <a:p>
            <a:r>
              <a:rPr lang="es-AR" dirty="0"/>
              <a:t>¿Qué tipo de operaciones son las más utilizadas en la extracción de petróleo?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31052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D62EDAC-A07B-D020-C04F-1CCDDB835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AR" dirty="0"/>
              <a:t>Análisis exploratorio</a:t>
            </a:r>
          </a:p>
        </p:txBody>
      </p:sp>
    </p:spTree>
    <p:extLst>
      <p:ext uri="{BB962C8B-B14F-4D97-AF65-F5344CB8AC3E}">
        <p14:creationId xmlns:p14="http://schemas.microsoft.com/office/powerpoint/2010/main" val="1999022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2EADB10-B116-2695-1E76-83E044049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155013"/>
          </a:xfrm>
        </p:spPr>
        <p:txBody>
          <a:bodyPr anchor="ctr">
            <a:noAutofit/>
          </a:bodyPr>
          <a:lstStyle/>
          <a:p>
            <a:pPr algn="ctr"/>
            <a:r>
              <a:rPr lang="es-AR" sz="2800" dirty="0"/>
              <a:t>¿Cuáles es el número de derrames de petróleo y sus derivados en estos 50 años?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EDEEB27A-90A5-C994-0914-4BC2DA31B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1339" y="1511885"/>
            <a:ext cx="10172700" cy="190254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1400" dirty="0"/>
              <a:t>Como puede observarse en la gráfica de la derecha, el número de derrames de petróleo ha disminuido en los últimos años.</a:t>
            </a:r>
          </a:p>
          <a:p>
            <a:pPr marL="0" indent="0" algn="just">
              <a:buNone/>
            </a:pPr>
            <a:r>
              <a:rPr lang="es-AR" sz="1400" dirty="0"/>
              <a:t>Puede observase que existieron un mayor número de derrames en los primeros años de extracción del crudo, principalmente para toneladas entre 7 a 700 toneladas (curva en color naranja).</a:t>
            </a:r>
          </a:p>
          <a:p>
            <a:pPr marL="0" indent="0" algn="just">
              <a:buNone/>
            </a:pPr>
            <a:r>
              <a:rPr lang="es-AR" sz="1400" dirty="0"/>
              <a:t>La pregunta que surge ahora es, ¿Cuáles fueron las causas que originaron el gran número de derrames? ¿Qué operaciones llevaron a tener estas consecuencias?</a:t>
            </a:r>
          </a:p>
        </p:txBody>
      </p:sp>
      <p:pic>
        <p:nvPicPr>
          <p:cNvPr id="19" name="Marcador de contenido 5">
            <a:extLst>
              <a:ext uri="{FF2B5EF4-FFF2-40B4-BE49-F238E27FC236}">
                <a16:creationId xmlns:a16="http://schemas.microsoft.com/office/drawing/2014/main" id="{453548AF-B466-6854-F010-EE9E4524AD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96225" y="2883286"/>
            <a:ext cx="4357814" cy="3321282"/>
          </a:xfrm>
        </p:spPr>
      </p:pic>
      <p:pic>
        <p:nvPicPr>
          <p:cNvPr id="21" name="Marcador de contenido 11">
            <a:extLst>
              <a:ext uri="{FF2B5EF4-FFF2-40B4-BE49-F238E27FC236}">
                <a16:creationId xmlns:a16="http://schemas.microsoft.com/office/drawing/2014/main" id="{63E998CA-9BB5-522E-38A7-6CF6DC8BF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339" y="2896864"/>
            <a:ext cx="4150986" cy="330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03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9C858-1549-87E0-9DEE-CE3DB74EB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s-AR" sz="3600" dirty="0"/>
              <a:t>Causas del derrame de petróleo</a:t>
            </a:r>
          </a:p>
        </p:txBody>
      </p:sp>
      <p:pic>
        <p:nvPicPr>
          <p:cNvPr id="21" name="Marcador de contenido 20">
            <a:extLst>
              <a:ext uri="{FF2B5EF4-FFF2-40B4-BE49-F238E27FC236}">
                <a16:creationId xmlns:a16="http://schemas.microsoft.com/office/drawing/2014/main" id="{59C5A72F-EF85-5F8B-1C65-BCBF52371E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48450" y="2451544"/>
            <a:ext cx="4800600" cy="3288411"/>
          </a:xfrm>
        </p:spPr>
      </p:pic>
      <p:pic>
        <p:nvPicPr>
          <p:cNvPr id="19" name="Marcador de contenido 18">
            <a:extLst>
              <a:ext uri="{FF2B5EF4-FFF2-40B4-BE49-F238E27FC236}">
                <a16:creationId xmlns:a16="http://schemas.microsoft.com/office/drawing/2014/main" id="{92806CB1-6661-AF1A-882B-D69D66A4CB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57300" y="2429326"/>
            <a:ext cx="4800600" cy="3332848"/>
          </a:xfrm>
        </p:spPr>
      </p:pic>
    </p:spTree>
    <p:extLst>
      <p:ext uri="{BB962C8B-B14F-4D97-AF65-F5344CB8AC3E}">
        <p14:creationId xmlns:p14="http://schemas.microsoft.com/office/powerpoint/2010/main" val="1580675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0C49ACE-AF46-EE5F-F272-F034DB11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es-AR" sz="5400" dirty="0"/>
              <a:t>Causas del derrame de petróleo</a:t>
            </a:r>
            <a:endParaRPr lang="es-AR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D53759-2591-EB3D-AA0E-4F587765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4601098"/>
          </a:xfrm>
        </p:spPr>
        <p:txBody>
          <a:bodyPr>
            <a:normAutofit/>
          </a:bodyPr>
          <a:lstStyle/>
          <a:p>
            <a:pPr algn="just"/>
            <a:r>
              <a:rPr lang="es-AR" sz="1400" dirty="0"/>
              <a:t>Como puede observarse en las gráficas anteriores, las principales causas que ocasionan el derrame de petróleo son, para derrames que superan las 700 toneladas, el “</a:t>
            </a:r>
            <a:r>
              <a:rPr lang="es-AR" sz="1400" dirty="0" err="1"/>
              <a:t>Grounding</a:t>
            </a:r>
            <a:r>
              <a:rPr lang="es-AR" sz="1400" dirty="0"/>
              <a:t>” y luego le siguen causas como “</a:t>
            </a:r>
            <a:r>
              <a:rPr lang="es-AR" sz="1400" dirty="0" err="1"/>
              <a:t>Allision</a:t>
            </a:r>
            <a:r>
              <a:rPr lang="es-AR" sz="1400" dirty="0"/>
              <a:t>/</a:t>
            </a:r>
            <a:r>
              <a:rPr lang="es-AR" sz="1400" dirty="0" err="1"/>
              <a:t>Collision</a:t>
            </a:r>
            <a:r>
              <a:rPr lang="es-AR" sz="1400" dirty="0"/>
              <a:t>” y “Hull </a:t>
            </a:r>
            <a:r>
              <a:rPr lang="es-AR" sz="1400" dirty="0" err="1"/>
              <a:t>Failure</a:t>
            </a:r>
            <a:r>
              <a:rPr lang="es-AR" sz="1400" dirty="0"/>
              <a:t>”. </a:t>
            </a:r>
          </a:p>
          <a:p>
            <a:pPr algn="just"/>
            <a:r>
              <a:rPr lang="es-AR" sz="1400" dirty="0"/>
              <a:t>Haciendo un poco de investigación sobre este </a:t>
            </a:r>
            <a:r>
              <a:rPr lang="es-AR" sz="1400" dirty="0" err="1"/>
              <a:t>dataset</a:t>
            </a:r>
            <a:r>
              <a:rPr lang="es-AR" sz="1400" dirty="0"/>
              <a:t>, me encuentro con que el mismo fue desarrollado tomando datos de busque petroleros y plataformas petrolíferas en alta mar. </a:t>
            </a:r>
          </a:p>
          <a:p>
            <a:pPr algn="just"/>
            <a:r>
              <a:rPr lang="es-AR" sz="1400" dirty="0"/>
              <a:t>Los </a:t>
            </a:r>
            <a:r>
              <a:rPr lang="es-MX" sz="1400" dirty="0"/>
              <a:t>derrames de petróleo por </a:t>
            </a:r>
            <a:r>
              <a:rPr lang="es-MX" sz="1400" dirty="0" err="1"/>
              <a:t>grounding</a:t>
            </a:r>
            <a:r>
              <a:rPr lang="es-MX" sz="1400" dirty="0"/>
              <a:t>, es decir, por encallamiento de buques petroleros, son causados principalmente por errores de navegación, fallas mecánicas o condiciones climáticas adversas. Estas situaciones pueden llevar a que el barco choque contra rocas, arrecifes o tierra firme, causando la ruptura del casco y el derrame del petróleo.</a:t>
            </a:r>
          </a:p>
          <a:p>
            <a:pPr algn="just"/>
            <a:r>
              <a:rPr lang="es-MX" sz="1400" dirty="0"/>
              <a:t>Las consecuencias de los derrames de petróleo por </a:t>
            </a:r>
            <a:r>
              <a:rPr lang="es-MX" sz="1400" dirty="0" err="1"/>
              <a:t>grounding</a:t>
            </a:r>
            <a:r>
              <a:rPr lang="es-MX" sz="1400" dirty="0"/>
              <a:t> son:</a:t>
            </a:r>
          </a:p>
          <a:p>
            <a:pPr lvl="1" algn="just"/>
            <a:r>
              <a:rPr lang="es-MX" sz="1400" b="1" u="sng" dirty="0"/>
              <a:t>Contaminación marina:</a:t>
            </a:r>
            <a:r>
              <a:rPr lang="es-MX" sz="1400" dirty="0"/>
              <a:t> El petróleo derramado contamina el agua, daña la vida marina (peces, aves, mamíferos) y afecta los ecosistemas costeros.</a:t>
            </a:r>
          </a:p>
          <a:p>
            <a:pPr lvl="1" algn="just"/>
            <a:r>
              <a:rPr lang="es-MX" sz="1400" b="1" u="sng" dirty="0"/>
              <a:t>Impacto económico:</a:t>
            </a:r>
            <a:r>
              <a:rPr lang="es-MX" sz="1400" dirty="0"/>
              <a:t> La pesca, el turismo y otras actividades económicas relacionadas con el mar pueden verse gravemente afectadas. </a:t>
            </a:r>
          </a:p>
          <a:p>
            <a:pPr lvl="1" algn="just"/>
            <a:r>
              <a:rPr lang="es-MX" sz="1400" b="1" u="sng" dirty="0"/>
              <a:t>Daños ambientales:</a:t>
            </a:r>
            <a:r>
              <a:rPr lang="es-MX" sz="1400" dirty="0"/>
              <a:t> La contaminación del agua y el suelo, la pérdida de biodiversidad y la alteración de los ecosistemas son consecuencias comunes. </a:t>
            </a:r>
          </a:p>
          <a:p>
            <a:pPr lvl="1" algn="just"/>
            <a:r>
              <a:rPr lang="es-MX" sz="1400" b="1" u="sng" dirty="0"/>
              <a:t>Riesgos para la salud humana:</a:t>
            </a:r>
            <a:r>
              <a:rPr lang="es-MX" sz="1400" dirty="0"/>
              <a:t> La exposición al petróleo puede causar problemas de salud en las personas, especialmente en aquellas que trabajan en la limpieza del derrame o viven cerca de la zona afectada. </a:t>
            </a:r>
          </a:p>
          <a:p>
            <a:pPr lvl="1" algn="just"/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2332485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78D17D0-D595-A466-D3D0-424E8627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s-AR" sz="3600" dirty="0"/>
              <a:t>¿cuáles son las operaciones que generan las mayores cantidades de derrame de petróleo?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1622D20D-4879-2FA8-1E2A-B16099A87C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69495" y="2507435"/>
            <a:ext cx="5578301" cy="3176629"/>
          </a:xfr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035B92-C244-778E-455F-1DC3CE1B34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es-AR" sz="1400" dirty="0"/>
              <a:t>Como puede observarse las operaciones desconocidas son las generan una mayor cantidad de derrames, lo que sería importante conocer qué operaciones son las que se incluyen.</a:t>
            </a:r>
          </a:p>
          <a:p>
            <a:pPr algn="just"/>
            <a:r>
              <a:rPr lang="es-AR" sz="1400" dirty="0"/>
              <a:t>Luego le siguen operaciones de carga y descarga de petróleo. Donde un derrame bajo estas operaciones </a:t>
            </a:r>
            <a:r>
              <a:rPr lang="es-MX" sz="1400" dirty="0"/>
              <a:t>requiere una respuesta inmediata. Las medidas incluyen la contención del derrame, la recuperación del petróleo, la limpieza del área afectada y la prevención de futuros incidentes.</a:t>
            </a:r>
          </a:p>
          <a:p>
            <a:pPr algn="just"/>
            <a:r>
              <a:rPr lang="es-MX" sz="1400" dirty="0"/>
              <a:t>Las técnicas que se utilizan para mitigar las consecuencias son: Barreras de contención, </a:t>
            </a:r>
            <a:r>
              <a:rPr lang="es-MX" sz="1400" dirty="0" err="1"/>
              <a:t>skimmers</a:t>
            </a:r>
            <a:r>
              <a:rPr lang="es-MX" sz="1400" dirty="0"/>
              <a:t>, y materiales absorbentes para controlar y recuperar el petróleo derramado, tanto en tierra como en agua</a:t>
            </a:r>
          </a:p>
        </p:txBody>
      </p:sp>
    </p:spTree>
    <p:extLst>
      <p:ext uri="{BB962C8B-B14F-4D97-AF65-F5344CB8AC3E}">
        <p14:creationId xmlns:p14="http://schemas.microsoft.com/office/powerpoint/2010/main" val="4228499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AE7AD07-718F-3944-A1DF-023F94F5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774" y="1644159"/>
            <a:ext cx="8187071" cy="4064627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s-AR" sz="7300" dirty="0"/>
              <a:t>INSIGHTS &amp;</a:t>
            </a:r>
            <a:br>
              <a:rPr lang="es-AR" sz="7300" dirty="0"/>
            </a:br>
            <a:r>
              <a:rPr lang="es-AR" sz="7300" b="1" dirty="0"/>
              <a:t>RECOMENDACIONES</a:t>
            </a:r>
            <a:br>
              <a:rPr lang="es-AR" dirty="0"/>
            </a:b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79535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3DCDEAE-F0A9-8351-77CD-6A60B2E7E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08996"/>
          </a:xfrm>
        </p:spPr>
        <p:txBody>
          <a:bodyPr>
            <a:normAutofit fontScale="90000"/>
          </a:bodyPr>
          <a:lstStyle/>
          <a:p>
            <a:pPr algn="ctr"/>
            <a:r>
              <a:rPr lang="es-AR" sz="3600" dirty="0"/>
              <a:t>INSIGHTS &amp; </a:t>
            </a:r>
            <a:r>
              <a:rPr lang="es-AR" sz="3600" b="1" dirty="0"/>
              <a:t>RECOMENDACIONES</a:t>
            </a:r>
            <a:br>
              <a:rPr lang="es-AR" dirty="0"/>
            </a:b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FD7BEE5-B258-2CA7-040E-4723009D1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091381"/>
            <a:ext cx="10178322" cy="5384234"/>
          </a:xfrm>
        </p:spPr>
        <p:txBody>
          <a:bodyPr>
            <a:normAutofit/>
          </a:bodyPr>
          <a:lstStyle/>
          <a:p>
            <a:pPr algn="just"/>
            <a:r>
              <a:rPr lang="es-AR" sz="1600" b="1" dirty="0" err="1"/>
              <a:t>Insights</a:t>
            </a:r>
            <a:endParaRPr lang="es-AR" sz="1600" b="1" dirty="0"/>
          </a:p>
          <a:p>
            <a:pPr lvl="1" algn="just"/>
            <a:r>
              <a:rPr lang="es-AR" sz="1600" dirty="0"/>
              <a:t>El número y cantidad de derrames de petróleo ha disminuido con el transcurso de los años. Esto se debe a una mayor concientización tanto a nivel medio ambiental como de las operaciones de trabajo.</a:t>
            </a:r>
          </a:p>
          <a:p>
            <a:pPr lvl="1" algn="just"/>
            <a:r>
              <a:rPr lang="es-AR" sz="1600" dirty="0"/>
              <a:t>Las principales causas de derrame siguen siendo por </a:t>
            </a:r>
            <a:r>
              <a:rPr lang="es-MX" sz="1600" dirty="0"/>
              <a:t>encallamiento de buques petroleros debido a errores humanos o fallas mecánicas de los equipos. Es por esto que es fundamental, reducirlos errores humanos implementando protocolos claros y detallados, y la utilización de tecnología que minimice la intervención humana. Además, es importante realizar inspecciones regulares de equipos y fomentar una cultura de seguridad que priorice la prevención</a:t>
            </a:r>
            <a:endParaRPr lang="es-AR" sz="1600" dirty="0"/>
          </a:p>
          <a:p>
            <a:pPr algn="just"/>
            <a:r>
              <a:rPr lang="es-AR" sz="1600" b="1" dirty="0"/>
              <a:t>Recomendaciones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s-AR" altLang="es-AR" sz="1600" b="1" dirty="0"/>
              <a:t>Protocolos de emergencia: </a:t>
            </a:r>
            <a:r>
              <a:rPr lang="es-AR" altLang="es-AR" sz="1600" dirty="0"/>
              <a:t>Contar con un plan de contingencia bien estructurado que incluya barreras flotantes, equipos de recuperación y personal capacitado. 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s-AR" altLang="es-AR" sz="1600" b="1" dirty="0"/>
              <a:t>Monitoreo y respuesta rápida:</a:t>
            </a:r>
            <a:r>
              <a:rPr lang="es-AR" altLang="es-AR" sz="1600" dirty="0"/>
              <a:t> Utilizar tecnología avanzada para detectar fugas y actuar de inmediato para minimizar el impacto ambiental. 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s-AR" altLang="es-AR" sz="1600" b="1" dirty="0"/>
              <a:t>Capacitación del personal:</a:t>
            </a:r>
            <a:r>
              <a:rPr lang="es-AR" altLang="es-AR" sz="1600" dirty="0"/>
              <a:t> Asegurar que todos los trabajadores estén entrenados en protocolos de seguridad y respuesta ante derrames. </a:t>
            </a:r>
          </a:p>
          <a:p>
            <a:pPr lvl="1" algn="just" fontAlgn="base">
              <a:lnSpc>
                <a:spcPct val="100000"/>
              </a:lnSpc>
              <a:spcAft>
                <a:spcPct val="0"/>
              </a:spcAft>
            </a:pPr>
            <a:r>
              <a:rPr lang="es-AR" altLang="es-AR" sz="1600" b="1" dirty="0"/>
              <a:t>Cumplimiento de regulaciones:</a:t>
            </a:r>
            <a:r>
              <a:rPr lang="es-AR" altLang="es-AR" sz="1600" dirty="0"/>
              <a:t> Seguir normativas internacionales como el Convenio OPRC y el protocolo HNS-SNPP para la lucha contra la contaminación marítima. </a:t>
            </a:r>
          </a:p>
          <a:p>
            <a:pPr lvl="1" algn="just"/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3849674636"/>
      </p:ext>
    </p:extLst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TM10001106[[fn=Distintivo]]</Template>
  <TotalTime>376</TotalTime>
  <Words>950</Words>
  <Application>Microsoft Office PowerPoint</Application>
  <PresentationFormat>Panorámica</PresentationFormat>
  <Paragraphs>54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Aharoni</vt:lpstr>
      <vt:lpstr>Amasis MT Pro Light</vt:lpstr>
      <vt:lpstr>Arial</vt:lpstr>
      <vt:lpstr>Gill Sans MT</vt:lpstr>
      <vt:lpstr>Impact</vt:lpstr>
      <vt:lpstr>Distintivo</vt:lpstr>
      <vt:lpstr>DERRAMES DE PETRÓLEO</vt:lpstr>
      <vt:lpstr>AGENDA</vt:lpstr>
      <vt:lpstr>Presentación de PowerPoint</vt:lpstr>
      <vt:lpstr>PREGUNTAS DE INTERÉS</vt:lpstr>
      <vt:lpstr>Análisis exploratorio</vt:lpstr>
      <vt:lpstr>¿Cuáles es el número de derrames de petróleo y sus derivados en estos 50 años?</vt:lpstr>
      <vt:lpstr>Causas del derrame de petróleo</vt:lpstr>
      <vt:lpstr>Causas del derrame de petróleo</vt:lpstr>
      <vt:lpstr>¿cuáles son las operaciones que generan las mayores cantidades de derrame de petróleo?</vt:lpstr>
      <vt:lpstr>INSIGHTS &amp; RECOMENDACIONES </vt:lpstr>
      <vt:lpstr>INSIGHTS &amp; RECOMENDACIONES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Estefania Ochoa</dc:creator>
  <cp:lastModifiedBy>Estefania Ochoa</cp:lastModifiedBy>
  <cp:revision>2</cp:revision>
  <dcterms:created xsi:type="dcterms:W3CDTF">2025-06-10T21:15:15Z</dcterms:created>
  <dcterms:modified xsi:type="dcterms:W3CDTF">2025-06-15T00:17:42Z</dcterms:modified>
</cp:coreProperties>
</file>